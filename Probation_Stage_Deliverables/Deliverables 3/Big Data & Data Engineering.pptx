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85" d="100"/>
          <a:sy n="85" d="100"/>
        </p:scale>
        <p:origin x="5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2F2F4E3C-FF04-4489-8302-9410ACC0C282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124E9A69-EE2D-4C2A-B9A1-6E3CB645CF61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36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F4E3C-FF04-4489-8302-9410ACC0C282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E9A69-EE2D-4C2A-B9A1-6E3CB645C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058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F4E3C-FF04-4489-8302-9410ACC0C282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E9A69-EE2D-4C2A-B9A1-6E3CB645CF61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5217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F4E3C-FF04-4489-8302-9410ACC0C282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E9A69-EE2D-4C2A-B9A1-6E3CB645C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962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F4E3C-FF04-4489-8302-9410ACC0C282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E9A69-EE2D-4C2A-B9A1-6E3CB645CF61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1005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F4E3C-FF04-4489-8302-9410ACC0C282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E9A69-EE2D-4C2A-B9A1-6E3CB645CF61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2373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F4E3C-FF04-4489-8302-9410ACC0C282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E9A69-EE2D-4C2A-B9A1-6E3CB645C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490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F4E3C-FF04-4489-8302-9410ACC0C282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E9A69-EE2D-4C2A-B9A1-6E3CB645CF61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1200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F4E3C-FF04-4489-8302-9410ACC0C282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E9A69-EE2D-4C2A-B9A1-6E3CB645C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6034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F4E3C-FF04-4489-8302-9410ACC0C282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E9A69-EE2D-4C2A-B9A1-6E3CB645C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612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F4E3C-FF04-4489-8302-9410ACC0C282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E9A69-EE2D-4C2A-B9A1-6E3CB645CF61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30314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F4E3C-FF04-4489-8302-9410ACC0C282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E9A69-EE2D-4C2A-B9A1-6E3CB645CF61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06198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F4E3C-FF04-4489-8302-9410ACC0C282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E9A69-EE2D-4C2A-B9A1-6E3CB645C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5718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F4E3C-FF04-4489-8302-9410ACC0C282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E9A69-EE2D-4C2A-B9A1-6E3CB645CF61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16543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F4E3C-FF04-4489-8302-9410ACC0C282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E9A69-EE2D-4C2A-B9A1-6E3CB645CF61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01100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F4E3C-FF04-4489-8302-9410ACC0C282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E9A69-EE2D-4C2A-B9A1-6E3CB645CF61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55428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F4E3C-FF04-4489-8302-9410ACC0C282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E9A69-EE2D-4C2A-B9A1-6E3CB645CF61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4368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F2F4E3C-FF04-4489-8302-9410ACC0C282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24E9A69-EE2D-4C2A-B9A1-6E3CB645C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795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899" r:id="rId2"/>
    <p:sldLayoutId id="2147483900" r:id="rId3"/>
    <p:sldLayoutId id="2147483901" r:id="rId4"/>
    <p:sldLayoutId id="2147483902" r:id="rId5"/>
    <p:sldLayoutId id="2147483903" r:id="rId6"/>
    <p:sldLayoutId id="2147483904" r:id="rId7"/>
    <p:sldLayoutId id="2147483905" r:id="rId8"/>
    <p:sldLayoutId id="2147483906" r:id="rId9"/>
    <p:sldLayoutId id="2147483907" r:id="rId10"/>
    <p:sldLayoutId id="2147483908" r:id="rId11"/>
    <p:sldLayoutId id="2147483909" r:id="rId12"/>
    <p:sldLayoutId id="2147483910" r:id="rId13"/>
    <p:sldLayoutId id="2147483911" r:id="rId14"/>
    <p:sldLayoutId id="2147483912" r:id="rId15"/>
    <p:sldLayoutId id="2147483913" r:id="rId16"/>
    <p:sldLayoutId id="2147483914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C6525-A5A3-41C0-B3DC-DD874A9256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52917" y="1550893"/>
            <a:ext cx="8148917" cy="1631577"/>
          </a:xfrm>
        </p:spPr>
        <p:txBody>
          <a:bodyPr/>
          <a:lstStyle/>
          <a:p>
            <a:r>
              <a:rPr lang="en-US" b="1" dirty="0"/>
              <a:t>Navigating Big Data &amp; Data Engineering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919B04-D47E-40EE-A2DA-2B5467F6E4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3602038"/>
            <a:ext cx="9735671" cy="1705070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200000"/>
              </a:lnSpc>
            </a:pPr>
            <a:r>
              <a:rPr lang="en-US" b="1" dirty="0"/>
              <a:t>Principles, Tools, and Techniques for Handling Large-Scale Data </a:t>
            </a:r>
          </a:p>
          <a:p>
            <a:pPr>
              <a:lnSpc>
                <a:spcPct val="200000"/>
              </a:lnSpc>
            </a:pPr>
            <a:r>
              <a:rPr lang="en-US" sz="3300" b="1" dirty="0"/>
              <a:t>Mubarak </a:t>
            </a:r>
            <a:r>
              <a:rPr lang="en-US" sz="3300" b="1" dirty="0" err="1"/>
              <a:t>Adisa</a:t>
            </a:r>
            <a:endParaRPr lang="en-US" sz="3300" b="1" dirty="0"/>
          </a:p>
          <a:p>
            <a:pPr>
              <a:lnSpc>
                <a:spcPct val="200000"/>
              </a:lnSpc>
            </a:pPr>
            <a:r>
              <a:rPr lang="en-US" b="1" dirty="0"/>
              <a:t>Data Science &amp; Generative AI Intern</a:t>
            </a:r>
          </a:p>
        </p:txBody>
      </p:sp>
    </p:spTree>
    <p:extLst>
      <p:ext uri="{BB962C8B-B14F-4D97-AF65-F5344CB8AC3E}">
        <p14:creationId xmlns:p14="http://schemas.microsoft.com/office/powerpoint/2010/main" val="69033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56A78-CC0B-4A52-BF27-DD25FBDE4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Introduction to Big Data &amp; Data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ABA23-949A-4BD3-819A-5FA679E979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0612" y="2556932"/>
            <a:ext cx="10165976" cy="349424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/>
              <a:t>What is Big Data?</a:t>
            </a:r>
            <a:endParaRPr lang="en-US" sz="1600" dirty="0"/>
          </a:p>
          <a:p>
            <a:r>
              <a:rPr lang="en-US" sz="1600" b="1" dirty="0"/>
              <a:t>Definition:</a:t>
            </a:r>
            <a:r>
              <a:rPr lang="en-US" sz="1600" dirty="0"/>
              <a:t> Data sets that are too large or complex to be dealt with by traditional data-processing application software.</a:t>
            </a:r>
          </a:p>
          <a:p>
            <a:r>
              <a:rPr lang="en-US" sz="1600" b="1" dirty="0"/>
              <a:t>The 3 Vs:</a:t>
            </a:r>
            <a:endParaRPr lang="en-US" sz="1600" dirty="0"/>
          </a:p>
          <a:p>
            <a:pPr lvl="1"/>
            <a:r>
              <a:rPr lang="en-US" sz="1600" b="1" dirty="0"/>
              <a:t>Volume:</a:t>
            </a:r>
            <a:r>
              <a:rPr lang="en-US" sz="1600" dirty="0"/>
              <a:t> The sheer amount of data (Terabytes/Petabytes).</a:t>
            </a:r>
          </a:p>
          <a:p>
            <a:pPr lvl="1"/>
            <a:r>
              <a:rPr lang="en-US" sz="1600" b="1" dirty="0"/>
              <a:t>Velocity:</a:t>
            </a:r>
            <a:r>
              <a:rPr lang="en-US" sz="1600" dirty="0"/>
              <a:t> The speed at which data is generated and processed (Streaming).</a:t>
            </a:r>
          </a:p>
          <a:p>
            <a:pPr lvl="1"/>
            <a:r>
              <a:rPr lang="en-US" sz="1600" b="1" dirty="0"/>
              <a:t>Variety:</a:t>
            </a:r>
            <a:r>
              <a:rPr lang="en-US" sz="1600" dirty="0"/>
              <a:t> Different types of data (Structured, Semi-structured, Unstructured).</a:t>
            </a:r>
          </a:p>
          <a:p>
            <a:r>
              <a:rPr lang="en-US" sz="1600" b="1" dirty="0"/>
              <a:t>Who is a Data Engineer?</a:t>
            </a:r>
            <a:endParaRPr lang="en-US" sz="1600" dirty="0"/>
          </a:p>
          <a:p>
            <a:r>
              <a:rPr lang="en-US" sz="1600" dirty="0"/>
              <a:t>A professional responsible for designing, building, and maintaining the architecture (pipelines) that allows data to be stored, processed, and analyzed efficiently.</a:t>
            </a:r>
          </a:p>
          <a:p>
            <a:r>
              <a:rPr lang="en-US" sz="1600" b="1" dirty="0"/>
              <a:t>Goal:</a:t>
            </a:r>
            <a:r>
              <a:rPr lang="en-US" sz="1600" dirty="0"/>
              <a:t> To transform raw data into a usable format for Data Scientists and Analysts.</a:t>
            </a:r>
          </a:p>
          <a:p>
            <a:pPr marL="0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110976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4D5A2-0981-41A8-80CC-C60D0A4D4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Hadoop Distributed File System (HDFS)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FE1C79-4383-43CF-9968-58FD272439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The Foundation of Big Data Storage</a:t>
            </a:r>
            <a:endParaRPr lang="en-US" dirty="0"/>
          </a:p>
          <a:p>
            <a:r>
              <a:rPr lang="en-US" b="1" dirty="0"/>
              <a:t>Concept:</a:t>
            </a:r>
            <a:r>
              <a:rPr lang="en-US" dirty="0"/>
              <a:t> A distributed file system designed to run on commodity hardware.</a:t>
            </a:r>
          </a:p>
          <a:p>
            <a:r>
              <a:rPr lang="en-US" b="1" dirty="0"/>
              <a:t>Architecture:</a:t>
            </a:r>
            <a:endParaRPr lang="en-US" dirty="0"/>
          </a:p>
          <a:p>
            <a:pPr lvl="1"/>
            <a:r>
              <a:rPr lang="en-US" b="1" dirty="0" err="1"/>
              <a:t>NameNode</a:t>
            </a:r>
            <a:r>
              <a:rPr lang="en-US" b="1" dirty="0"/>
              <a:t> (Master):</a:t>
            </a:r>
            <a:r>
              <a:rPr lang="en-US" dirty="0"/>
              <a:t> Manages metadata (file names, locations).</a:t>
            </a:r>
          </a:p>
          <a:p>
            <a:pPr lvl="1"/>
            <a:r>
              <a:rPr lang="en-US" b="1" dirty="0" err="1"/>
              <a:t>DataNode</a:t>
            </a:r>
            <a:r>
              <a:rPr lang="en-US" b="1" dirty="0"/>
              <a:t> (Slave):</a:t>
            </a:r>
            <a:r>
              <a:rPr lang="en-US" dirty="0"/>
              <a:t> Stores the actual data blocks.</a:t>
            </a:r>
          </a:p>
          <a:p>
            <a:r>
              <a:rPr lang="en-US" b="1" dirty="0"/>
              <a:t>Key Features:</a:t>
            </a:r>
            <a:endParaRPr lang="en-US" dirty="0"/>
          </a:p>
          <a:p>
            <a:pPr lvl="1"/>
            <a:r>
              <a:rPr lang="en-US" b="1" dirty="0"/>
              <a:t>Fault Tolerance:</a:t>
            </a:r>
            <a:r>
              <a:rPr lang="en-US" dirty="0"/>
              <a:t> Data is replicated (usually 3 copies) across different nodes. If one fails, data is not lost.</a:t>
            </a:r>
          </a:p>
          <a:p>
            <a:pPr lvl="1"/>
            <a:r>
              <a:rPr lang="en-US" b="1" dirty="0"/>
              <a:t>Scalability:</a:t>
            </a:r>
            <a:r>
              <a:rPr lang="en-US" dirty="0"/>
              <a:t> Can easily add more nodes to the cluster to increase storage.</a:t>
            </a:r>
          </a:p>
          <a:p>
            <a:pPr lvl="1"/>
            <a:r>
              <a:rPr lang="en-US" b="1" dirty="0"/>
              <a:t>HDFS Quotas:</a:t>
            </a:r>
            <a:r>
              <a:rPr lang="en-US" dirty="0"/>
              <a:t> Administrators can set limits on the number of names (files/directories) and the amount of space used by directories.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004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514FF-1CFF-425F-84EF-D133369E8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MapReduce – The Processing Engine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FCCF8-958D-4791-94B5-6468B77C1B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Distributed Data Processing</a:t>
            </a:r>
            <a:endParaRPr lang="en-US" dirty="0"/>
          </a:p>
          <a:p>
            <a:r>
              <a:rPr lang="en-US" b="1" dirty="0"/>
              <a:t>Definition:</a:t>
            </a:r>
            <a:r>
              <a:rPr lang="en-US" dirty="0"/>
              <a:t> A programming model for processing large data sets with a parallel, distributed algorithm on a cluster.</a:t>
            </a:r>
          </a:p>
          <a:p>
            <a:r>
              <a:rPr lang="en-US" b="1" dirty="0"/>
              <a:t>How it Works:</a:t>
            </a:r>
            <a:endParaRPr lang="en-US" dirty="0"/>
          </a:p>
          <a:p>
            <a:pPr lvl="1"/>
            <a:r>
              <a:rPr lang="en-US" b="1" dirty="0"/>
              <a:t>Map Phase:</a:t>
            </a:r>
            <a:r>
              <a:rPr lang="en-US" dirty="0"/>
              <a:t> Takes a set of data and converts it into another set of data, where individual elements are broken down into tuples (key/value pairs).</a:t>
            </a:r>
          </a:p>
          <a:p>
            <a:pPr lvl="1"/>
            <a:r>
              <a:rPr lang="en-US" b="1" dirty="0"/>
              <a:t>Shuffle/Sort:</a:t>
            </a:r>
            <a:r>
              <a:rPr lang="en-US" dirty="0"/>
              <a:t> Organizes the data based on keys.</a:t>
            </a:r>
          </a:p>
          <a:p>
            <a:pPr lvl="1"/>
            <a:r>
              <a:rPr lang="en-US" b="1" dirty="0"/>
              <a:t>Reduce Phase:</a:t>
            </a:r>
            <a:r>
              <a:rPr lang="en-US" dirty="0"/>
              <a:t> Takes the output from a map as an input and combines those data tuples into a smaller set of tuples (aggregation).</a:t>
            </a:r>
          </a:p>
          <a:p>
            <a:r>
              <a:rPr lang="en-US" b="1" dirty="0"/>
              <a:t>Use Case:</a:t>
            </a:r>
            <a:r>
              <a:rPr lang="en-US" dirty="0"/>
              <a:t> Ideal for batch processing where speed is less critical than reliability and scalability.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2671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C61D5-5F6A-45ED-AC80-8DD347367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Apache Hive – Data Warehousing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6A889-BFA6-439A-8830-E4A12990A5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Bringing SQL to Hadoop</a:t>
            </a:r>
            <a:endParaRPr lang="en-US" dirty="0"/>
          </a:p>
          <a:p>
            <a:r>
              <a:rPr lang="en-US" b="1" dirty="0"/>
              <a:t>Purpose:</a:t>
            </a:r>
            <a:r>
              <a:rPr lang="en-US" dirty="0"/>
              <a:t> Provides a SQL-like interface (HiveQL) to query data stored in HDFS. It makes Big Data accessible to analysts who know SQL.</a:t>
            </a:r>
          </a:p>
          <a:p>
            <a:r>
              <a:rPr lang="en-US" b="1" dirty="0"/>
              <a:t>Architecture:</a:t>
            </a:r>
            <a:endParaRPr lang="en-US" dirty="0"/>
          </a:p>
          <a:p>
            <a:pPr lvl="1"/>
            <a:r>
              <a:rPr lang="en-US" b="1" dirty="0"/>
              <a:t>Driver:</a:t>
            </a:r>
            <a:r>
              <a:rPr lang="en-US" dirty="0"/>
              <a:t> Receives the queries.</a:t>
            </a:r>
          </a:p>
          <a:p>
            <a:pPr lvl="1"/>
            <a:r>
              <a:rPr lang="en-US" b="1" dirty="0"/>
              <a:t>Compiler:</a:t>
            </a:r>
            <a:r>
              <a:rPr lang="en-US" dirty="0"/>
              <a:t> Parses the query.</a:t>
            </a:r>
          </a:p>
          <a:p>
            <a:pPr lvl="1"/>
            <a:r>
              <a:rPr lang="en-US" b="1" dirty="0" err="1"/>
              <a:t>Metastore</a:t>
            </a:r>
            <a:r>
              <a:rPr lang="en-US" b="1" dirty="0"/>
              <a:t>:</a:t>
            </a:r>
            <a:r>
              <a:rPr lang="en-US" dirty="0"/>
              <a:t> Stores metadata about tables (schema, location) often using MySQL.</a:t>
            </a:r>
          </a:p>
          <a:p>
            <a:r>
              <a:rPr lang="en-US" b="1" dirty="0"/>
              <a:t>Table Types:</a:t>
            </a:r>
            <a:endParaRPr lang="en-US" dirty="0"/>
          </a:p>
          <a:p>
            <a:pPr lvl="1"/>
            <a:r>
              <a:rPr lang="en-US" b="1" dirty="0"/>
              <a:t>Internal (Managed) Tables:</a:t>
            </a:r>
            <a:r>
              <a:rPr lang="en-US" dirty="0"/>
              <a:t> Hive manages the data. Dropping the table deletes the data.</a:t>
            </a:r>
          </a:p>
          <a:p>
            <a:pPr lvl="1"/>
            <a:r>
              <a:rPr lang="en-US" b="1" dirty="0"/>
              <a:t>External Tables:</a:t>
            </a:r>
            <a:r>
              <a:rPr lang="en-US" dirty="0"/>
              <a:t> Hive only manages the metadata. Dropping the table leaves the actual data in HDFS intact.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09727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B5268-E748-4427-9F95-016F63CE0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Hive Optimization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393894-B010-4F55-AD4F-744C05FE0A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Enhancing Query Performance</a:t>
            </a:r>
            <a:endParaRPr lang="en-US" dirty="0"/>
          </a:p>
          <a:p>
            <a:r>
              <a:rPr lang="en-US" b="1" dirty="0"/>
              <a:t>Partitioning:</a:t>
            </a:r>
            <a:endParaRPr lang="en-US" dirty="0"/>
          </a:p>
          <a:p>
            <a:pPr lvl="1"/>
            <a:r>
              <a:rPr lang="en-US" dirty="0"/>
              <a:t>Splits large tables into smaller parts based on column values (e.g., Year/Month).</a:t>
            </a:r>
          </a:p>
          <a:p>
            <a:pPr lvl="1"/>
            <a:r>
              <a:rPr lang="en-US" b="1" dirty="0"/>
              <a:t>Static vs. Dynamic:</a:t>
            </a:r>
            <a:r>
              <a:rPr lang="en-US" dirty="0"/>
              <a:t> Static is user-defined at load time; Dynamic is determined by the data at insert time.</a:t>
            </a:r>
          </a:p>
          <a:p>
            <a:r>
              <a:rPr lang="en-US" b="1" dirty="0"/>
              <a:t>Bucketing:</a:t>
            </a:r>
            <a:endParaRPr lang="en-US" dirty="0"/>
          </a:p>
          <a:p>
            <a:pPr lvl="1"/>
            <a:r>
              <a:rPr lang="en-US" dirty="0"/>
              <a:t>Decomposes data into more manageable parts (buckets) based on the hash of a column.</a:t>
            </a:r>
          </a:p>
          <a:p>
            <a:pPr lvl="1"/>
            <a:r>
              <a:rPr lang="en-US" dirty="0"/>
              <a:t>Crucial for efficient sampling and joining of datasets.</a:t>
            </a:r>
          </a:p>
          <a:p>
            <a:r>
              <a:rPr lang="en-US" b="1" dirty="0"/>
              <a:t>File Formats:</a:t>
            </a:r>
            <a:endParaRPr lang="en-US" dirty="0"/>
          </a:p>
          <a:p>
            <a:pPr lvl="1"/>
            <a:r>
              <a:rPr lang="en-US" b="1" dirty="0"/>
              <a:t>ORC (Optimized Row Columnar):</a:t>
            </a:r>
            <a:r>
              <a:rPr lang="en-US" dirty="0"/>
              <a:t> Highly efficient storage format that compresses data better than </a:t>
            </a:r>
            <a:r>
              <a:rPr lang="en-US" dirty="0" err="1"/>
              <a:t>TextFile</a:t>
            </a:r>
            <a:r>
              <a:rPr lang="en-US" dirty="0"/>
              <a:t> and speeds up processing.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441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105E8-AC4D-40F6-A099-9CB65677E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Advanced Hive Features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FA23F4BA-DB10-4DA8-9DA4-7CD49987E78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95402" y="2227014"/>
            <a:ext cx="9910479" cy="44505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 (Body)"/>
              </a:rPr>
              <a:t>Modern Data Management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aramond (Body)"/>
            </a:endParaRP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 (Body)"/>
              </a:rPr>
              <a:t>ACID Transactions: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aramond (Body)"/>
            </a:endParaRPr>
          </a:p>
          <a:p>
            <a:pPr lvl="1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 (Body)"/>
              </a:rPr>
              <a:t>Supports Atomicity, Consistency, Isolation, and Durability.</a:t>
            </a:r>
          </a:p>
          <a:p>
            <a:pPr lvl="1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 (Body)"/>
              </a:rPr>
              <a:t>Allows for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 (Body)"/>
              </a:rPr>
              <a:t>INSERT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 (Body)"/>
              </a:rPr>
              <a:t>,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 (Body)"/>
              </a:rPr>
              <a:t>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 (Body)"/>
              </a:rPr>
              <a:t>UPDATE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 (Body)"/>
              </a:rPr>
              <a:t>,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 (Body)"/>
              </a:rPr>
              <a:t> and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 (Body)"/>
              </a:rPr>
              <a:t>DELETE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 (Body)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 (Body)"/>
              </a:rPr>
              <a:t>operations on Hive tables, which was traditionally "write-once".</a:t>
            </a: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 (Body)"/>
              </a:rPr>
              <a:t>User Defined Functions (UDF):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aramond (Body)"/>
            </a:endParaRPr>
          </a:p>
          <a:p>
            <a:pPr lvl="1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 (Body)"/>
              </a:rPr>
              <a:t>Allows developers to extend Hive's functionality by writing custom functions in Java to handle complex logic that standard HiveQL cannot.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aramond (Body)"/>
            </a:endParaRPr>
          </a:p>
        </p:txBody>
      </p:sp>
    </p:spTree>
    <p:extLst>
      <p:ext uri="{BB962C8B-B14F-4D97-AF65-F5344CB8AC3E}">
        <p14:creationId xmlns:p14="http://schemas.microsoft.com/office/powerpoint/2010/main" val="40139578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71928-2BF6-4D08-B36E-D67A78AC4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Apache Spark – The Speed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0BB184-BB8F-47FE-9CBA-6F6A4099C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556931"/>
            <a:ext cx="10533529" cy="361078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Next-Generation Processing</a:t>
            </a:r>
            <a:endParaRPr lang="en-US" dirty="0"/>
          </a:p>
          <a:p>
            <a:r>
              <a:rPr lang="en-US" b="1" dirty="0"/>
              <a:t>Why Spark?</a:t>
            </a:r>
            <a:endParaRPr lang="en-US" dirty="0"/>
          </a:p>
          <a:p>
            <a:pPr lvl="1"/>
            <a:r>
              <a:rPr lang="en-US" dirty="0"/>
              <a:t>Performs processing in-memory (RAM) rather than writing to disk after every step (like MapReduce), making it up to 100x faster.</a:t>
            </a:r>
          </a:p>
          <a:p>
            <a:r>
              <a:rPr lang="en-US" b="1" dirty="0"/>
              <a:t>Architecture:</a:t>
            </a:r>
            <a:endParaRPr lang="en-US" dirty="0"/>
          </a:p>
          <a:p>
            <a:pPr lvl="1"/>
            <a:r>
              <a:rPr lang="en-US" b="1" dirty="0"/>
              <a:t>Driver Program:</a:t>
            </a:r>
            <a:r>
              <a:rPr lang="en-US" dirty="0"/>
              <a:t> The brain of the application (e.g., </a:t>
            </a:r>
            <a:r>
              <a:rPr lang="en-US" dirty="0" err="1"/>
              <a:t>SparkContext</a:t>
            </a:r>
            <a:r>
              <a:rPr lang="en-US" dirty="0"/>
              <a:t>).</a:t>
            </a:r>
          </a:p>
          <a:p>
            <a:pPr lvl="1"/>
            <a:r>
              <a:rPr lang="en-US" b="1" dirty="0"/>
              <a:t>Executors:</a:t>
            </a:r>
            <a:r>
              <a:rPr lang="en-US" dirty="0"/>
              <a:t> Worker nodes that run tasks and store data.</a:t>
            </a:r>
          </a:p>
          <a:p>
            <a:pPr lvl="1"/>
            <a:r>
              <a:rPr lang="en-US" b="1" dirty="0"/>
              <a:t>Cluster Manager:</a:t>
            </a:r>
            <a:r>
              <a:rPr lang="en-US" dirty="0"/>
              <a:t> Manages resources (YARN, Mesos, or Standalone).</a:t>
            </a:r>
          </a:p>
          <a:p>
            <a:r>
              <a:rPr lang="en-US" b="1" dirty="0"/>
              <a:t>Key Components:</a:t>
            </a:r>
            <a:endParaRPr lang="en-US" dirty="0"/>
          </a:p>
          <a:p>
            <a:pPr lvl="1"/>
            <a:r>
              <a:rPr lang="en-US" b="1" dirty="0"/>
              <a:t>Spark Core:</a:t>
            </a:r>
            <a:r>
              <a:rPr lang="en-US" dirty="0"/>
              <a:t> The foundation.</a:t>
            </a:r>
          </a:p>
          <a:p>
            <a:pPr lvl="1"/>
            <a:r>
              <a:rPr lang="en-US" b="1" dirty="0"/>
              <a:t>Spark SQL:</a:t>
            </a:r>
            <a:r>
              <a:rPr lang="en-US" dirty="0"/>
              <a:t> For structured data.</a:t>
            </a:r>
          </a:p>
          <a:p>
            <a:pPr lvl="1"/>
            <a:r>
              <a:rPr lang="en-US" b="1" dirty="0"/>
              <a:t>Spark Streaming:</a:t>
            </a:r>
            <a:r>
              <a:rPr lang="en-US" dirty="0"/>
              <a:t> For real-time data processing (e.g., integrating with Kafka).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49314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69F0E-CC3F-401D-B696-2040BF8D2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Integration &amp; Streaming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C625B7ED-6066-47C6-81C4-2306D5E0C6B2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 bwMode="auto">
              <a:xfrm>
                <a:off x="708212" y="2790930"/>
                <a:ext cx="10515600" cy="3093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aramond (Body)"/>
                  </a:rPr>
                  <a:t>Connecting the Ecosystem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Garamond (Body)"/>
                </a:endParaRPr>
              </a:p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</a:pPr>
                <a:r>
                  <a:rPr kumimoji="0" lang="en-US" altLang="en-US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aramond (Body)"/>
                  </a:rPr>
                  <a:t>Apache Kafka: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Garamond (Body)"/>
                </a:endParaRPr>
              </a:p>
              <a:p>
                <a:pPr lvl="1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</a:pP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aramond (Body)"/>
                  </a:rPr>
                  <a:t>A distributed event streaming platform used for high-performance data pipelines, streaming analytics, and data integration.</a:t>
                </a:r>
              </a:p>
              <a:p>
                <a:pPr lvl="1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</a:pP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aramond (Body)"/>
                  </a:rPr>
                  <a:t>Acts as the "nervous system" collecting real-time data.</a:t>
                </a:r>
              </a:p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</a:pPr>
                <a:r>
                  <a:rPr kumimoji="0" lang="en-US" altLang="en-US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aramond (Body)"/>
                  </a:rPr>
                  <a:t>Sqoop: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Garamond (Body)"/>
                </a:endParaRPr>
              </a:p>
              <a:p>
                <a:pPr lvl="1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</a:pP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aramond (Body)"/>
                  </a:rPr>
                  <a:t>A tool designed for efficiently transferring bulk data between Apache Hadoop and structured datastores such as relational databases (MySQL, Oracle).</a:t>
                </a:r>
              </a:p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</a:pPr>
                <a:r>
                  <a:rPr kumimoji="0" lang="en-US" altLang="en-US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aramond (Body)"/>
                  </a:rPr>
                  <a:t>The Pipeline: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Garamond (Body)"/>
                </a:endParaRPr>
              </a:p>
              <a:p>
                <a:pPr lvl="1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</a:pP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aramond (Body)"/>
                  </a:rPr>
                  <a:t>Ingest (Kafka/Sqoop) </a:t>
                </a:r>
                <a14:m>
                  <m:oMath xmlns:m="http://schemas.openxmlformats.org/officeDocument/2006/math"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 (Body)"/>
                        <a:ea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aramond (Body)"/>
                  </a:rPr>
                  <a:t>Store (HDFS</a:t>
                </a:r>
                <a14:m>
                  <m:oMath xmlns:m="http://schemas.openxmlformats.org/officeDocument/2006/math"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 (Body)"/>
                        <a:ea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aramond (Body)"/>
                  </a:rPr>
                  <a:t>Process (Spark/MapReduce) </a:t>
                </a:r>
                <a14:m>
                  <m:oMath xmlns:m="http://schemas.openxmlformats.org/officeDocument/2006/math"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 (Body)"/>
                        <a:ea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aramond (Body)"/>
                  </a:rPr>
                  <a:t>Analyze (Hive).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Garamond (Body)"/>
                </a:endParaRPr>
              </a:p>
            </p:txBody>
          </p:sp>
        </mc:Choice>
        <mc:Fallback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C625B7ED-6066-47C6-81C4-2306D5E0C6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708212" y="2790930"/>
                <a:ext cx="10515600" cy="3093154"/>
              </a:xfrm>
              <a:prstGeom prst="rect">
                <a:avLst/>
              </a:prstGeom>
              <a:blipFill>
                <a:blip r:embed="rId2"/>
                <a:stretch>
                  <a:fillRect l="-464" t="-217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15051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BCD85-ACED-4507-A277-335B5A628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DA265-9686-4002-940A-BF57F0E702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Summary of Learning Outcomes</a:t>
            </a:r>
            <a:endParaRPr lang="en-US" dirty="0"/>
          </a:p>
          <a:p>
            <a:r>
              <a:rPr lang="en-US" b="1" dirty="0"/>
              <a:t>Storage:</a:t>
            </a:r>
            <a:r>
              <a:rPr lang="en-US" dirty="0"/>
              <a:t> HDFS provides the scalable foundation for Big Data.</a:t>
            </a:r>
          </a:p>
          <a:p>
            <a:r>
              <a:rPr lang="en-US" b="1" dirty="0"/>
              <a:t>Processing:</a:t>
            </a:r>
            <a:r>
              <a:rPr lang="en-US" dirty="0"/>
              <a:t> MapReduce paved the way, but Apache Spark is the modern standard for speed and versatility.</a:t>
            </a:r>
          </a:p>
          <a:p>
            <a:r>
              <a:rPr lang="en-US" b="1" dirty="0"/>
              <a:t>Analysis:</a:t>
            </a:r>
            <a:r>
              <a:rPr lang="en-US" dirty="0"/>
              <a:t> Apache Hive bridges the gap between Big Data and Business Intelligence through SQL.</a:t>
            </a:r>
          </a:p>
          <a:p>
            <a:r>
              <a:rPr lang="en-US" b="1" dirty="0"/>
              <a:t>Optimization:</a:t>
            </a:r>
            <a:r>
              <a:rPr lang="en-US" dirty="0"/>
              <a:t> Techniques like Partitioning, Bucketing, and using ORC formats are critical for efficient Data Engineering.</a:t>
            </a:r>
          </a:p>
          <a:p>
            <a:r>
              <a:rPr lang="en-US" b="1" dirty="0"/>
              <a:t>Integration:</a:t>
            </a:r>
            <a:r>
              <a:rPr lang="en-US" dirty="0"/>
              <a:t> Successful Data Engineering requires orchestrating these tools into seamless pipelines.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04948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17</TotalTime>
  <Words>936</Words>
  <Application>Microsoft Office PowerPoint</Application>
  <PresentationFormat>Widescreen</PresentationFormat>
  <Paragraphs>87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Cambria Math</vt:lpstr>
      <vt:lpstr>Garamond</vt:lpstr>
      <vt:lpstr>Garamond (Body)</vt:lpstr>
      <vt:lpstr>Organic</vt:lpstr>
      <vt:lpstr>Navigating Big Data &amp; Data Engineering</vt:lpstr>
      <vt:lpstr>Introduction to Big Data &amp; Data Engineering</vt:lpstr>
      <vt:lpstr>Hadoop Distributed File System (HDFS)</vt:lpstr>
      <vt:lpstr>MapReduce – The Processing Engine</vt:lpstr>
      <vt:lpstr>Apache Hive – Data Warehousing</vt:lpstr>
      <vt:lpstr>Hive Optimization Techniques</vt:lpstr>
      <vt:lpstr>Advanced Hive Features</vt:lpstr>
      <vt:lpstr>Apache Spark – The Speed Layer</vt:lpstr>
      <vt:lpstr>Data Integration &amp; Streaming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Navigating Big Data &amp; Data Engineering</dc:title>
  <dc:creator>USER</dc:creator>
  <cp:lastModifiedBy>USER</cp:lastModifiedBy>
  <cp:revision>3</cp:revision>
  <dcterms:created xsi:type="dcterms:W3CDTF">2026-02-18T14:54:51Z</dcterms:created>
  <dcterms:modified xsi:type="dcterms:W3CDTF">2026-02-18T15:12:26Z</dcterms:modified>
</cp:coreProperties>
</file>